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9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H REDDY" userId="103d68775d68098a" providerId="LiveId" clId="{493DC290-8AF5-4F65-90C3-3F3844AD728B}"/>
    <pc:docChg chg="undo custSel modSld">
      <pc:chgData name="PRASHANTH REDDY" userId="103d68775d68098a" providerId="LiveId" clId="{493DC290-8AF5-4F65-90C3-3F3844AD728B}" dt="2026-09-16T12:47:37.987" v="14" actId="20577"/>
      <pc:docMkLst>
        <pc:docMk/>
      </pc:docMkLst>
      <pc:sldChg chg="delSp modSp mod">
        <pc:chgData name="PRASHANTH REDDY" userId="103d68775d68098a" providerId="LiveId" clId="{493DC290-8AF5-4F65-90C3-3F3844AD728B}" dt="2026-09-16T09:43:51.677" v="4" actId="478"/>
        <pc:sldMkLst>
          <pc:docMk/>
          <pc:sldMk cId="0" sldId="257"/>
        </pc:sldMkLst>
        <pc:spChg chg="del mod">
          <ac:chgData name="PRASHANTH REDDY" userId="103d68775d68098a" providerId="LiveId" clId="{493DC290-8AF5-4F65-90C3-3F3844AD728B}" dt="2026-09-16T09:43:51.677" v="4" actId="478"/>
          <ac:spMkLst>
            <pc:docMk/>
            <pc:sldMk cId="0" sldId="257"/>
            <ac:spMk id="15" creationId="{00000000-0000-0000-0000-000000000000}"/>
          </ac:spMkLst>
        </pc:spChg>
      </pc:sldChg>
      <pc:sldChg chg="delSp modSp mod">
        <pc:chgData name="PRASHANTH REDDY" userId="103d68775d68098a" providerId="LiveId" clId="{493DC290-8AF5-4F65-90C3-3F3844AD728B}" dt="2026-09-16T09:43:57.810" v="5" actId="478"/>
        <pc:sldMkLst>
          <pc:docMk/>
          <pc:sldMk cId="0" sldId="258"/>
        </pc:sldMkLst>
        <pc:spChg chg="del mod">
          <ac:chgData name="PRASHANTH REDDY" userId="103d68775d68098a" providerId="LiveId" clId="{493DC290-8AF5-4F65-90C3-3F3844AD728B}" dt="2026-09-16T09:43:57.810" v="5" actId="478"/>
          <ac:spMkLst>
            <pc:docMk/>
            <pc:sldMk cId="0" sldId="258"/>
            <ac:spMk id="17" creationId="{00000000-0000-0000-0000-000000000000}"/>
          </ac:spMkLst>
        </pc:spChg>
      </pc:sldChg>
      <pc:sldChg chg="delSp modSp mod">
        <pc:chgData name="PRASHANTH REDDY" userId="103d68775d68098a" providerId="LiveId" clId="{493DC290-8AF5-4F65-90C3-3F3844AD728B}" dt="2026-09-16T09:44:03.200" v="6" actId="478"/>
        <pc:sldMkLst>
          <pc:docMk/>
          <pc:sldMk cId="0" sldId="259"/>
        </pc:sldMkLst>
        <pc:spChg chg="del mod">
          <ac:chgData name="PRASHANTH REDDY" userId="103d68775d68098a" providerId="LiveId" clId="{493DC290-8AF5-4F65-90C3-3F3844AD728B}" dt="2026-09-16T09:44:03.200" v="6" actId="478"/>
          <ac:spMkLst>
            <pc:docMk/>
            <pc:sldMk cId="0" sldId="259"/>
            <ac:spMk id="14" creationId="{00000000-0000-0000-0000-000000000000}"/>
          </ac:spMkLst>
        </pc:spChg>
      </pc:sldChg>
      <pc:sldChg chg="delSp modSp mod">
        <pc:chgData name="PRASHANTH REDDY" userId="103d68775d68098a" providerId="LiveId" clId="{493DC290-8AF5-4F65-90C3-3F3844AD728B}" dt="2026-09-16T12:45:13.514" v="12" actId="1076"/>
        <pc:sldMkLst>
          <pc:docMk/>
          <pc:sldMk cId="0" sldId="260"/>
        </pc:sldMkLst>
        <pc:spChg chg="mod">
          <ac:chgData name="PRASHANTH REDDY" userId="103d68775d68098a" providerId="LiveId" clId="{493DC290-8AF5-4F65-90C3-3F3844AD728B}" dt="2026-09-16T12:45:13.514" v="12" actId="1076"/>
          <ac:spMkLst>
            <pc:docMk/>
            <pc:sldMk cId="0" sldId="260"/>
            <ac:spMk id="21" creationId="{00000000-0000-0000-0000-000000000000}"/>
          </ac:spMkLst>
        </pc:spChg>
        <pc:spChg chg="del mod">
          <ac:chgData name="PRASHANTH REDDY" userId="103d68775d68098a" providerId="LiveId" clId="{493DC290-8AF5-4F65-90C3-3F3844AD728B}" dt="2026-09-16T09:44:10.590" v="7" actId="478"/>
          <ac:spMkLst>
            <pc:docMk/>
            <pc:sldMk cId="0" sldId="260"/>
            <ac:spMk id="28" creationId="{00000000-0000-0000-0000-000000000000}"/>
          </ac:spMkLst>
        </pc:spChg>
      </pc:sldChg>
      <pc:sldChg chg="delSp modSp mod">
        <pc:chgData name="PRASHANTH REDDY" userId="103d68775d68098a" providerId="LiveId" clId="{493DC290-8AF5-4F65-90C3-3F3844AD728B}" dt="2026-09-16T09:44:15.459" v="8" actId="478"/>
        <pc:sldMkLst>
          <pc:docMk/>
          <pc:sldMk cId="0" sldId="261"/>
        </pc:sldMkLst>
        <pc:spChg chg="del mod">
          <ac:chgData name="PRASHANTH REDDY" userId="103d68775d68098a" providerId="LiveId" clId="{493DC290-8AF5-4F65-90C3-3F3844AD728B}" dt="2026-09-16T09:44:15.459" v="8" actId="478"/>
          <ac:spMkLst>
            <pc:docMk/>
            <pc:sldMk cId="0" sldId="261"/>
            <ac:spMk id="17" creationId="{00000000-0000-0000-0000-000000000000}"/>
          </ac:spMkLst>
        </pc:spChg>
      </pc:sldChg>
      <pc:sldChg chg="delSp modSp mod">
        <pc:chgData name="PRASHANTH REDDY" userId="103d68775d68098a" providerId="LiveId" clId="{493DC290-8AF5-4F65-90C3-3F3844AD728B}" dt="2026-09-16T09:44:20.695" v="9" actId="478"/>
        <pc:sldMkLst>
          <pc:docMk/>
          <pc:sldMk cId="0" sldId="263"/>
        </pc:sldMkLst>
        <pc:spChg chg="del mod">
          <ac:chgData name="PRASHANTH REDDY" userId="103d68775d68098a" providerId="LiveId" clId="{493DC290-8AF5-4F65-90C3-3F3844AD728B}" dt="2026-09-16T09:44:20.695" v="9" actId="478"/>
          <ac:spMkLst>
            <pc:docMk/>
            <pc:sldMk cId="0" sldId="263"/>
            <ac:spMk id="17" creationId="{00000000-0000-0000-0000-000000000000}"/>
          </ac:spMkLst>
        </pc:spChg>
      </pc:sldChg>
      <pc:sldChg chg="delSp modSp mod">
        <pc:chgData name="PRASHANTH REDDY" userId="103d68775d68098a" providerId="LiveId" clId="{493DC290-8AF5-4F65-90C3-3F3844AD728B}" dt="2026-09-16T09:44:24.630" v="10" actId="478"/>
        <pc:sldMkLst>
          <pc:docMk/>
          <pc:sldMk cId="0" sldId="264"/>
        </pc:sldMkLst>
        <pc:spChg chg="del mod">
          <ac:chgData name="PRASHANTH REDDY" userId="103d68775d68098a" providerId="LiveId" clId="{493DC290-8AF5-4F65-90C3-3F3844AD728B}" dt="2026-09-16T09:44:24.630" v="10" actId="478"/>
          <ac:spMkLst>
            <pc:docMk/>
            <pc:sldMk cId="0" sldId="264"/>
            <ac:spMk id="14" creationId="{00000000-0000-0000-0000-000000000000}"/>
          </ac:spMkLst>
        </pc:spChg>
      </pc:sldChg>
      <pc:sldChg chg="modSp mod">
        <pc:chgData name="PRASHANTH REDDY" userId="103d68775d68098a" providerId="LiveId" clId="{493DC290-8AF5-4F65-90C3-3F3844AD728B}" dt="2026-09-16T12:47:37.987" v="14" actId="20577"/>
        <pc:sldMkLst>
          <pc:docMk/>
          <pc:sldMk cId="0" sldId="265"/>
        </pc:sldMkLst>
        <pc:spChg chg="mod">
          <ac:chgData name="PRASHANTH REDDY" userId="103d68775d68098a" providerId="LiveId" clId="{493DC290-8AF5-4F65-90C3-3F3844AD728B}" dt="2026-09-16T12:47:37.987" v="14" actId="20577"/>
          <ac:spMkLst>
            <pc:docMk/>
            <pc:sldMk cId="0" sldId="265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19" y="1325880"/>
            <a:ext cx="93677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lang="en-IN" sz="4400" dirty="0">
                <a:solidFill>
                  <a:schemeClr val="accent1">
                    <a:lumMod val="75000"/>
                  </a:schemeClr>
                </a:solidFill>
              </a:rPr>
              <a:t>Secure digital banking</a:t>
            </a:r>
          </a:p>
          <a:p>
            <a:pPr>
              <a:defRPr sz="2800">
                <a:solidFill>
                  <a:srgbClr val="AEDCFF"/>
                </a:solidFill>
              </a:defRPr>
            </a:pPr>
            <a:r>
              <a:rPr lang="en-US" dirty="0"/>
              <a:t> </a:t>
            </a:r>
            <a:r>
              <a:rPr sz="3600" dirty="0"/>
              <a:t>Platform</a:t>
            </a:r>
            <a:r>
              <a:rPr lang="en-US" sz="3600" dirty="0"/>
              <a:t> with Transaction Management System</a:t>
            </a:r>
            <a:endParaRPr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EC8948-F46B-D6AF-3482-001F659BBBE2}"/>
              </a:ext>
            </a:extLst>
          </p:cNvPr>
          <p:cNvSpPr txBox="1"/>
          <p:nvPr/>
        </p:nvSpPr>
        <p:spPr>
          <a:xfrm>
            <a:off x="791936" y="3069771"/>
            <a:ext cx="484958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Team 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MANIKANDAN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PAVITHRA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KOUSALYA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NITHISH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1B27"/>
                </a:solidFill>
                <a:ea typeface="Roboto" pitchFamily="34" charset="-122"/>
                <a:cs typeface="Roboto" pitchFamily="34" charset="-120"/>
              </a:rPr>
              <a:t>JEEVANA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B1B27"/>
                </a:solidFill>
                <a:ea typeface="Roboto" pitchFamily="34" charset="-122"/>
                <a:cs typeface="Roboto" pitchFamily="34" charset="-120"/>
              </a:rPr>
              <a:t>RAGHVENDRA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F44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C7D"/>
                </a:solidFill>
              </a:defRPr>
            </a:pPr>
            <a:r>
              <a:t>A secure, modular banking ecosystem built around real banking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92332"/>
                </a:solidFill>
              </a:defRPr>
            </a:pPr>
            <a:r>
              <a:t>• Customer onboarding and account lifecycle management</a:t>
            </a:r>
          </a:p>
          <a:p>
            <a:pPr>
              <a:spcAft>
                <a:spcPts val="1200"/>
              </a:spcAft>
              <a:defRPr sz="1800">
                <a:solidFill>
                  <a:srgbClr val="192332"/>
                </a:solidFill>
              </a:defRPr>
            </a:pPr>
            <a:r>
              <a:t>• Real-time balances, transaction processing and statements</a:t>
            </a:r>
          </a:p>
          <a:p>
            <a:pPr>
              <a:spcAft>
                <a:spcPts val="1200"/>
              </a:spcAft>
              <a:defRPr sz="1800">
                <a:solidFill>
                  <a:srgbClr val="192332"/>
                </a:solidFill>
              </a:defRPr>
            </a:pPr>
            <a:r>
              <a:t>• Loan origination, EMI scheduling and repayment tracking</a:t>
            </a:r>
          </a:p>
          <a:p>
            <a:pPr>
              <a:spcAft>
                <a:spcPts val="1200"/>
              </a:spcAft>
              <a:defRPr sz="1800">
                <a:solidFill>
                  <a:srgbClr val="192332"/>
                </a:solidFill>
              </a:defRPr>
            </a:pPr>
            <a:r>
              <a:t>• IMPS / NEFT / UPI-style payment and fund-transfer workflows</a:t>
            </a:r>
          </a:p>
          <a:p>
            <a:pPr>
              <a:spcAft>
                <a:spcPts val="1200"/>
              </a:spcAft>
              <a:defRPr sz="1800">
                <a:solidFill>
                  <a:srgbClr val="192332"/>
                </a:solidFill>
              </a:defRPr>
            </a:pPr>
            <a:r>
              <a:t>• Digital KYC with document OCR, face match and liveness checks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554480"/>
            <a:ext cx="4389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0" y="1554480"/>
            <a:ext cx="73152" cy="1143000"/>
          </a:xfrm>
          <a:prstGeom prst="rect">
            <a:avLst/>
          </a:prstGeom>
          <a:solidFill>
            <a:srgbClr val="19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0" y="1719072"/>
            <a:ext cx="397763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Architecture style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Microservices + event-driven 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880360"/>
            <a:ext cx="4389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0" y="2880360"/>
            <a:ext cx="73152" cy="1143000"/>
          </a:xfrm>
          <a:prstGeom prst="rect">
            <a:avLst/>
          </a:prstGeom>
          <a:solidFill>
            <a:srgbClr val="26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86600" y="3044952"/>
            <a:ext cx="397763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Security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Role-based access, IAM and audit logging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4206240"/>
            <a:ext cx="4389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0" y="4206240"/>
            <a:ext cx="73152" cy="114300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86600" y="4370831"/>
            <a:ext cx="397763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Reliability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ACID operations + Saga-based distributed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F44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C7D"/>
                </a:solidFill>
              </a:defRPr>
            </a:pPr>
            <a:r>
              <a:t>Why a modern digital banking platform is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1645920"/>
          </a:xfrm>
          <a:prstGeom prst="rect">
            <a:avLst/>
          </a:prstGeom>
          <a:solidFill>
            <a:srgbClr val="19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4350422" cy="928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rPr dirty="0"/>
              <a:t>Fragmented operations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rPr dirty="0"/>
              <a:t>Accounts, loans, payments and KYC often operate as disconnected </a:t>
            </a:r>
            <a:endParaRPr lang="en-US" dirty="0"/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rPr dirty="0"/>
              <a:t>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55448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59" y="1554480"/>
            <a:ext cx="73152" cy="1645920"/>
          </a:xfrm>
          <a:prstGeom prst="rect">
            <a:avLst/>
          </a:prstGeom>
          <a:solidFill>
            <a:srgbClr val="26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59" y="1719072"/>
            <a:ext cx="3978718" cy="928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rPr dirty="0"/>
              <a:t>Transaction risk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rPr dirty="0"/>
              <a:t>Distributed banking actions need consistency, validation and </a:t>
            </a:r>
            <a:endParaRPr lang="en-US" dirty="0"/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rPr dirty="0"/>
              <a:t>recovery mechanisms.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1188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611880"/>
            <a:ext cx="73152" cy="164592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776472"/>
            <a:ext cx="4788298" cy="9284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rPr dirty="0"/>
              <a:t>Fraud &amp; identity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rPr dirty="0"/>
              <a:t>Payments and onboarding require beneficiary checks, fraud screening and</a:t>
            </a:r>
            <a:endParaRPr lang="en-US" dirty="0"/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rPr dirty="0"/>
              <a:t> identity verification.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61188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59" y="3611880"/>
            <a:ext cx="73152" cy="1645920"/>
          </a:xfrm>
          <a:prstGeom prst="rect">
            <a:avLst/>
          </a:prstGeom>
          <a:solidFill>
            <a:srgbClr val="7B5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3776472"/>
            <a:ext cx="4453463" cy="6412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rPr dirty="0"/>
              <a:t>Audit 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rPr dirty="0"/>
              <a:t>Critical operations need  role controls and immutable audit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F44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C7D"/>
                </a:solidFill>
              </a:defRPr>
            </a:pPr>
            <a:r>
              <a:t>Layered flow from user interface to services, events and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417320"/>
            <a:ext cx="8503920" cy="658368"/>
          </a:xfrm>
          <a:prstGeom prst="roundRect">
            <a:avLst/>
          </a:prstGeom>
          <a:solidFill>
            <a:srgbClr val="19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Angular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97880" y="20756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D6C7D"/>
                </a:solidFill>
              </a:defRPr>
            </a:pPr>
            <a: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331720"/>
            <a:ext cx="8503920" cy="658368"/>
          </a:xfrm>
          <a:prstGeom prst="roundRect">
            <a:avLst/>
          </a:prstGeom>
          <a:solidFill>
            <a:srgbClr val="26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API Gateway /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2990087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D6C7D"/>
                </a:solidFill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246120"/>
            <a:ext cx="8503920" cy="658368"/>
          </a:xfrm>
          <a:prstGeom prst="round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dirty="0"/>
              <a:t>Account • Customer • Loan • Payment • KYC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3904487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D6C7D"/>
                </a:solidFill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160520"/>
            <a:ext cx="8503920" cy="658368"/>
          </a:xfrm>
          <a:prstGeom prst="roundRect">
            <a:avLst/>
          </a:prstGeom>
          <a:solidFill>
            <a:srgbClr val="7B5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Kafka Event Streaming + Redis 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4818888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5D6C7D"/>
                </a:solidFill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074920"/>
            <a:ext cx="8503920" cy="658368"/>
          </a:xfrm>
          <a:prstGeom prst="round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PostgreSQL + Audit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F44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73152" cy="1737360"/>
          </a:xfrm>
          <a:prstGeom prst="rect">
            <a:avLst/>
          </a:prstGeom>
          <a:solidFill>
            <a:srgbClr val="19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81912"/>
            <a:ext cx="219456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Frontend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Angular</a:t>
            </a:r>
            <a:br/>
            <a:r>
              <a:t>Responsive banking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1732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0" y="1417320"/>
            <a:ext cx="73152" cy="1737360"/>
          </a:xfrm>
          <a:prstGeom prst="rect">
            <a:avLst/>
          </a:prstGeom>
          <a:solidFill>
            <a:srgbClr val="26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03320" y="1581912"/>
            <a:ext cx="219456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Backend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Java + Spring Boot</a:t>
            </a:r>
            <a:br/>
            <a:r>
              <a:t>REST APIs and business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73152" cy="173736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81912"/>
            <a:ext cx="219456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Database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PostgreSQL</a:t>
            </a:r>
            <a:br/>
            <a:r>
              <a:t>Transactional persistence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41732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235440" y="1417320"/>
            <a:ext cx="73152" cy="1737360"/>
          </a:xfrm>
          <a:prstGeom prst="rect">
            <a:avLst/>
          </a:prstGeom>
          <a:solidFill>
            <a:srgbClr val="7B5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64040" y="1581912"/>
            <a:ext cx="219456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Messaging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Apache Kafka</a:t>
            </a:r>
            <a:br/>
            <a:r>
              <a:t>Event-driven communication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6616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566160"/>
            <a:ext cx="73152" cy="1737360"/>
          </a:xfrm>
          <a:prstGeom prst="rect">
            <a:avLst/>
          </a:prstGeom>
          <a:solidFill>
            <a:srgbClr val="19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730752"/>
            <a:ext cx="1768433" cy="8258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rPr dirty="0"/>
              <a:t>Cache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rPr dirty="0"/>
              <a:t>Redis</a:t>
            </a:r>
            <a:br>
              <a:rPr dirty="0"/>
            </a:br>
            <a:r>
              <a:rPr lang="en-US" dirty="0"/>
              <a:t>F</a:t>
            </a:r>
            <a:r>
              <a:rPr dirty="0"/>
              <a:t>requently accessed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56616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474720" y="3566160"/>
            <a:ext cx="73152" cy="1737360"/>
          </a:xfrm>
          <a:prstGeom prst="rect">
            <a:avLst/>
          </a:prstGeom>
          <a:solidFill>
            <a:srgbClr val="26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23310" y="3730752"/>
            <a:ext cx="219456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rPr dirty="0"/>
              <a:t>Security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rPr dirty="0" err="1"/>
              <a:t>Keycloak</a:t>
            </a:r>
            <a:br>
              <a:rPr dirty="0"/>
            </a:br>
            <a:r>
              <a:rPr dirty="0"/>
              <a:t>Authentication and role-based 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56616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3566160"/>
            <a:ext cx="73152" cy="173736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3730752"/>
            <a:ext cx="219456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DevOps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Docker + Kubernetes</a:t>
            </a:r>
            <a:br/>
            <a:r>
              <a:t>Containerization and deployment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356616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235440" y="3566160"/>
            <a:ext cx="73152" cy="1737360"/>
          </a:xfrm>
          <a:prstGeom prst="rect">
            <a:avLst/>
          </a:prstGeom>
          <a:solidFill>
            <a:srgbClr val="7B5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34718" y="3730752"/>
            <a:ext cx="2194560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rPr dirty="0"/>
              <a:t>Patterns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rPr dirty="0"/>
              <a:t>Saga + ACID</a:t>
            </a:r>
            <a:br>
              <a:rPr dirty="0"/>
            </a:br>
            <a:r>
              <a:rPr dirty="0"/>
              <a:t>Consistency across banking workflows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F44"/>
                </a:solidFill>
              </a:defRPr>
            </a:pPr>
            <a:r>
              <a:t>Milestone-wise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C7D"/>
                </a:solidFill>
              </a:defRPr>
            </a:pPr>
            <a:r>
              <a:t>8-week delivery plan across four banking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73152" cy="914400"/>
          </a:xfrm>
          <a:prstGeom prst="rect">
            <a:avLst/>
          </a:prstGeom>
          <a:solidFill>
            <a:srgbClr val="19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81912"/>
            <a:ext cx="10195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M1 • Weeks 1–2 — Accounts &amp; Customers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Account creation • balance • transaction atomicity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0604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606040"/>
            <a:ext cx="73152" cy="914400"/>
          </a:xfrm>
          <a:prstGeom prst="rect">
            <a:avLst/>
          </a:prstGeom>
          <a:solidFill>
            <a:srgbClr val="26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770632"/>
            <a:ext cx="10195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M2 • Weeks 3–4 — Loan Management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Origination • credit assessment • EMI • disbursement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9476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794760"/>
            <a:ext cx="73152" cy="91440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959352"/>
            <a:ext cx="10195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M3 • Weeks 5–6 — Payments &amp; Transfers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Beneficiary • fraud check • transfer • settlement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8348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4983480"/>
            <a:ext cx="73152" cy="914400"/>
          </a:xfrm>
          <a:prstGeom prst="rect">
            <a:avLst/>
          </a:prstGeom>
          <a:solidFill>
            <a:srgbClr val="7B5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5148072"/>
            <a:ext cx="10195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M4 • Weeks 7–8 — KYC &amp; Compliance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OCR • face match • liveness • risk • audit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F44"/>
                </a:solidFill>
              </a:defRPr>
            </a:pPr>
            <a:r>
              <a:t>Digital KYC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D6C7D"/>
                </a:solidFill>
              </a:defRPr>
            </a:pPr>
            <a:r>
              <a:t>Milestone 4 identity-verification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1645920"/>
          </a:xfrm>
          <a:prstGeom prst="rect">
            <a:avLst/>
          </a:prstGeom>
          <a:solidFill>
            <a:srgbClr val="19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73351"/>
            <a:ext cx="470915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1. Document OCR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Extract identity fields from Aadhaar/PAN or supported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0876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55080" y="1508760"/>
            <a:ext cx="73152" cy="1645920"/>
          </a:xfrm>
          <a:prstGeom prst="rect">
            <a:avLst/>
          </a:prstGeom>
          <a:solidFill>
            <a:srgbClr val="26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673351"/>
            <a:ext cx="470915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2. Face Match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Compare selfie with document photograph and produce a similarity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566160"/>
            <a:ext cx="73152" cy="164592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730752"/>
            <a:ext cx="470915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3. Liveness Detection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Verify that the captured face belongs to a live person, not a static spoof.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566160"/>
            <a:ext cx="51206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3566160"/>
            <a:ext cx="73152" cy="1645920"/>
          </a:xfrm>
          <a:prstGeom prst="rect">
            <a:avLst/>
          </a:prstGeom>
          <a:solidFill>
            <a:srgbClr val="7B5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730752"/>
            <a:ext cx="470915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4. Risk &amp; Compliance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Combine verification results, role controls and audit logs for 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F44"/>
                </a:solidFill>
              </a:defRPr>
            </a:pPr>
            <a:r>
              <a:t>Validation &amp; Security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92332"/>
                </a:solidFill>
              </a:defRPr>
            </a:pPr>
            <a:r>
              <a:t>• Account balance validation before financial operations</a:t>
            </a:r>
          </a:p>
          <a:p>
            <a:pPr>
              <a:spcAft>
                <a:spcPts val="1200"/>
              </a:spcAft>
              <a:defRPr sz="1700">
                <a:solidFill>
                  <a:srgbClr val="192332"/>
                </a:solidFill>
              </a:defRPr>
            </a:pPr>
            <a:r>
              <a:t>• Atomic transaction handling for core account updates</a:t>
            </a:r>
          </a:p>
          <a:p>
            <a:pPr>
              <a:spcAft>
                <a:spcPts val="1200"/>
              </a:spcAft>
              <a:defRPr sz="1700">
                <a:solidFill>
                  <a:srgbClr val="192332"/>
                </a:solidFill>
              </a:defRPr>
            </a:pPr>
            <a:r>
              <a:t>• Saga status tracking for distributed payment / loan flows</a:t>
            </a:r>
          </a:p>
          <a:p>
            <a:pPr>
              <a:spcAft>
                <a:spcPts val="1200"/>
              </a:spcAft>
              <a:defRPr sz="1700">
                <a:solidFill>
                  <a:srgbClr val="192332"/>
                </a:solidFill>
              </a:defRPr>
            </a:pPr>
            <a:r>
              <a:t>• Role-based access for teller, manager and administrator</a:t>
            </a:r>
          </a:p>
          <a:p>
            <a:pPr>
              <a:spcAft>
                <a:spcPts val="1200"/>
              </a:spcAft>
              <a:defRPr sz="1700">
                <a:solidFill>
                  <a:srgbClr val="192332"/>
                </a:solidFill>
              </a:defRPr>
            </a:pPr>
            <a:r>
              <a:t>• Fraud screening and beneficiary verification before transfer</a:t>
            </a:r>
          </a:p>
          <a:p>
            <a:pPr>
              <a:spcAft>
                <a:spcPts val="1200"/>
              </a:spcAft>
              <a:defRPr sz="1700">
                <a:solidFill>
                  <a:srgbClr val="192332"/>
                </a:solidFill>
              </a:defRPr>
            </a:pPr>
            <a:r>
              <a:t>• KYC verification with OCR, face match and liveness</a:t>
            </a:r>
          </a:p>
          <a:p>
            <a:pPr>
              <a:spcAft>
                <a:spcPts val="1200"/>
              </a:spcAft>
              <a:defRPr sz="1700">
                <a:solidFill>
                  <a:srgbClr val="192332"/>
                </a:solidFill>
              </a:defRPr>
            </a:pPr>
            <a:r>
              <a:t>• Comprehensive audit logging for critical banking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164592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26679" y="1645920"/>
            <a:ext cx="73152" cy="1143000"/>
          </a:xfrm>
          <a:prstGeom prst="rect">
            <a:avLst/>
          </a:prstGeom>
          <a:solidFill>
            <a:srgbClr val="19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1810512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Confidentiality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Authenticated access and role separation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306324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26679" y="3063240"/>
            <a:ext cx="73152" cy="1143000"/>
          </a:xfrm>
          <a:prstGeom prst="rect">
            <a:avLst/>
          </a:prstGeom>
          <a:solidFill>
            <a:srgbClr val="228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3227832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Integrity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Validated transactions and audit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448056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26679" y="4480560"/>
            <a:ext cx="73152" cy="1143000"/>
          </a:xfrm>
          <a:prstGeom prst="rect">
            <a:avLst/>
          </a:prstGeom>
          <a:solidFill>
            <a:srgbClr val="26B0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79" y="4645152"/>
            <a:ext cx="29718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A1F44"/>
                </a:solidFill>
              </a:defRPr>
            </a:pPr>
            <a:r>
              <a:t>Availability</a:t>
            </a:r>
          </a:p>
          <a:p>
            <a:pPr>
              <a:spcBef>
                <a:spcPts val="800"/>
              </a:spcBef>
              <a:defRPr sz="1200">
                <a:solidFill>
                  <a:srgbClr val="5D6C7D"/>
                </a:solidFill>
              </a:defRPr>
            </a:pPr>
            <a:r>
              <a:t>Distributed services and scalable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473860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43712" cy="23750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FFFFFF"/>
                </a:solidFill>
              </a:defRPr>
            </a:pPr>
            <a:r>
              <a:rPr dirty="0">
                <a:solidFill>
                  <a:schemeClr val="accent1"/>
                </a:solidFill>
              </a:rPr>
              <a:t>• </a:t>
            </a:r>
            <a:r>
              <a:rPr lang="en-IN" dirty="0">
                <a:solidFill>
                  <a:schemeClr val="accent1"/>
                </a:solidFill>
              </a:rPr>
              <a:t>Secure</a:t>
            </a:r>
            <a:r>
              <a:rPr dirty="0">
                <a:solidFill>
                  <a:schemeClr val="accent1"/>
                </a:solidFill>
              </a:rPr>
              <a:t> integrates accounts, loans, payments and KYC into one modular banking platform.</a:t>
            </a:r>
          </a:p>
          <a:p>
            <a:pPr>
              <a:spcAft>
                <a:spcPts val="1600"/>
              </a:spcAft>
              <a:defRPr sz="1900">
                <a:solidFill>
                  <a:srgbClr val="FFFFFF"/>
                </a:solidFill>
              </a:defRPr>
            </a:pPr>
            <a:r>
              <a:rPr dirty="0">
                <a:solidFill>
                  <a:schemeClr val="accent1"/>
                </a:solidFill>
              </a:rPr>
              <a:t>• Event-driven services improve separation of concerns and support scalable transaction workflows.</a:t>
            </a:r>
          </a:p>
          <a:p>
            <a:pPr>
              <a:spcAft>
                <a:spcPts val="1600"/>
              </a:spcAft>
              <a:defRPr sz="1900">
                <a:solidFill>
                  <a:srgbClr val="FFFFFF"/>
                </a:solidFill>
              </a:defRPr>
            </a:pPr>
            <a:r>
              <a:rPr dirty="0">
                <a:solidFill>
                  <a:schemeClr val="accent1"/>
                </a:solidFill>
              </a:rPr>
              <a:t>• Fraud checks, identity verification, RBAC and audit logging strengthen security and traceability.</a:t>
            </a:r>
          </a:p>
          <a:p>
            <a:pPr>
              <a:spcAft>
                <a:spcPts val="1600"/>
              </a:spcAft>
              <a:defRPr sz="1900">
                <a:solidFill>
                  <a:srgbClr val="FFFFFF"/>
                </a:solidFill>
              </a:defRPr>
            </a:pPr>
            <a:r>
              <a:rPr dirty="0">
                <a:solidFill>
                  <a:schemeClr val="accent1"/>
                </a:solidFill>
              </a:rPr>
              <a:t>• Future scope: advanced ML fraud scoring, cloud-native observability, CI/CD, mobile banking and </a:t>
            </a:r>
            <a:endParaRPr lang="en-US" dirty="0">
              <a:solidFill>
                <a:schemeClr val="accent1"/>
              </a:solidFill>
            </a:endParaRPr>
          </a:p>
          <a:p>
            <a:pPr>
              <a:spcAft>
                <a:spcPts val="1600"/>
              </a:spcAft>
              <a:defRPr sz="1900">
                <a:solidFill>
                  <a:srgbClr val="FFFFFF"/>
                </a:solidFill>
              </a:defRPr>
            </a:pPr>
            <a:r>
              <a:rPr lang="en-IN" dirty="0">
                <a:solidFill>
                  <a:schemeClr val="accent1"/>
                </a:solidFill>
              </a:rPr>
              <a:t>   </a:t>
            </a:r>
            <a:r>
              <a:rPr dirty="0">
                <a:solidFill>
                  <a:schemeClr val="accent1"/>
                </a:solidFill>
              </a:rPr>
              <a:t>analytics dashboards.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5105" y="5577840"/>
            <a:ext cx="19713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AEDCFF"/>
                </a:solidFill>
              </a:defRPr>
            </a:pPr>
            <a:r>
              <a:rPr dirty="0">
                <a:solidFill>
                  <a:schemeClr val="tx2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571</Words>
  <Application>Microsoft Office PowerPoint</Application>
  <PresentationFormat>Widescreen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PRASHANTH REDDY</dc:creator>
  <cp:keywords/>
  <dc:description>generated using python-pptx</dc:description>
  <cp:lastModifiedBy>PRASHANTH REDDY</cp:lastModifiedBy>
  <cp:revision>2</cp:revision>
  <dcterms:created xsi:type="dcterms:W3CDTF">2013-01-27T09:14:16Z</dcterms:created>
  <dcterms:modified xsi:type="dcterms:W3CDTF">2026-09-16T13:58:30Z</dcterms:modified>
  <cp:category/>
</cp:coreProperties>
</file>